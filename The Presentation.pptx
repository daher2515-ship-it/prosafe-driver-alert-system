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72" r:id="rId5"/>
    <p:sldId id="273" r:id="rId6"/>
    <p:sldId id="259" r:id="rId7"/>
    <p:sldId id="278" r:id="rId8"/>
    <p:sldId id="260" r:id="rId9"/>
    <p:sldId id="277" r:id="rId10"/>
    <p:sldId id="262" r:id="rId11"/>
    <p:sldId id="263" r:id="rId12"/>
    <p:sldId id="265" r:id="rId13"/>
    <p:sldId id="264" r:id="rId14"/>
    <p:sldId id="274" r:id="rId15"/>
    <p:sldId id="275" r:id="rId16"/>
    <p:sldId id="276" r:id="rId17"/>
    <p:sldId id="271" r:id="rId18"/>
  </p:sldIdLst>
  <p:sldSz cx="12192000" cy="6858000"/>
  <p:notesSz cx="6858000" cy="9144000"/>
  <p:defaultTextStyle>
    <a:defPPr>
      <a:defRPr lang="ar-S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2D13810-4E52-4823-9860-C0EE3D612FC6}">
          <p14:sldIdLst>
            <p14:sldId id="256"/>
            <p14:sldId id="258"/>
            <p14:sldId id="257"/>
            <p14:sldId id="272"/>
            <p14:sldId id="273"/>
            <p14:sldId id="259"/>
            <p14:sldId id="278"/>
            <p14:sldId id="260"/>
          </p14:sldIdLst>
        </p14:section>
        <p14:section name="الشريحة الرئيسية" id="{96678A0A-EE4D-4B4C-B9F2-14BF0136675B}">
          <p14:sldIdLst>
            <p14:sldId id="277"/>
          </p14:sldIdLst>
        </p14:section>
        <p14:section name="شرائح فرعية" id="{965A0CCF-8F2C-4C98-BB82-B3F894574B94}">
          <p14:sldIdLst>
            <p14:sldId id="262"/>
            <p14:sldId id="263"/>
            <p14:sldId id="265"/>
            <p14:sldId id="264"/>
          </p14:sldIdLst>
        </p14:section>
        <p14:section name="لحالكوا" id="{7859B826-E81C-41CA-BFEB-602E2FCF2E67}">
          <p14:sldIdLst>
            <p14:sldId id="274"/>
            <p14:sldId id="275"/>
            <p14:sldId id="276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E1F6EB"/>
    <a:srgbClr val="A0A0A0"/>
    <a:srgbClr val="FFFFFF"/>
    <a:srgbClr val="FF3399"/>
    <a:srgbClr val="E1F6E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06" autoAdjust="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125BC7A-63AC-4A09-83F1-5E67800B8E9B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9029BC6-00F5-490C-B591-1E085F3C98B2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39423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29BC6-00F5-490C-B591-1E085F3C98B2}" type="slidenum">
              <a:rPr lang="ar-SY" smtClean="0"/>
              <a:t>7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881289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29BC6-00F5-490C-B591-1E085F3C98B2}" type="slidenum">
              <a:rPr lang="ar-SY" smtClean="0"/>
              <a:t>8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043420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66A7-9074-6C87-793F-0E4741839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6BB1C-E78F-A602-E0EA-3E057451B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FC696-ACD0-8CAE-748D-D64A1FA3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76254-4DA7-744B-341E-09A9B2AD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807C1-F6AB-C064-4D3E-D206D218D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25771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F061-61B1-37AC-774F-4940F32C4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4DEF-F836-C88B-EAFB-324B5E9BE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8F993-C9AA-06E4-A211-5AA3E9515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2FD20-C24D-7EDD-5354-0BB964DEC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4DE49-114C-7996-DF6B-A937FE38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08712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3663-5977-1691-B494-FB1A2A853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C161B-7EC6-B6BD-6322-CF30B3BC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04910-6771-6E1C-4F8B-147044C1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7456E-D8E4-3609-034A-379FC1AF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97A28-1A48-1161-2CA2-2F5F2BAD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147492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8D27-4407-93BF-2090-7CC2D5AF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6EAA-867F-0539-6441-0E439F87B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53CF5-1DF2-3EC7-5665-418EB05F6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40257-2D3B-E761-8295-493E3B0A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89A54-F607-2A02-FC8D-42359F54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643F8-3F4C-AC8D-082A-3C4A46DE8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11018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8455-5547-C5BF-2AE6-1BC91CF2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1F22A-AECF-D882-F8C1-30B22D8B4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2D8F7-18E3-E60B-59B6-F7ACCA02A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C2ACC3-D412-0B02-CEDD-E561A8A70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19773-3BF2-0A01-A2BF-4D078E9C8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E64499-1FB2-1D42-E38F-2C87C76F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FCF30-C68C-0ED3-9B9E-E4F65EF1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AC438D-8D42-FCAF-9F64-4C4D9BA8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76002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A6AA-59F4-CC23-594F-02CCA7D9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E6E21-2F04-E62A-F315-06CE3493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AB9B9-5A0A-F290-C49D-C2EA8971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278CB-23EA-A109-390B-E37FEFDC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83396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F3B230-1966-F77C-5C6A-E0B0BDCB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CBE36-1A6A-CFAC-D348-F677CE5E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1191D-A063-A4A6-9030-98030AF3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46014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45974-A4B8-FB3C-76A9-2584F4A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BA295-8777-EA0F-A6C4-7A94A5D6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28904-974A-A80B-F995-6950D2D17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FF02A-A41B-6B3D-2FCF-9E7AB310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B12AF-42DD-DEA4-FCEA-2D2907DAA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80B65-B8C3-86F6-F078-3A0B65921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99922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0F56-142D-03CF-8A7E-573D49AD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8509D-AF6C-4CFC-9B31-17920805C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34C65-BC63-DFBC-76CD-7E9C49B32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FED4D-1D09-9139-78DC-D406F226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6F6B4-6AE1-F1D8-0A8F-8FB70397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C8E2B-08C7-E261-8EDD-0462455D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806230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C87D-6220-5265-07AE-33CD28AE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75E99-6194-5AA0-4CBD-5D4806243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F36F-A9FA-858E-954C-B63FA90B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29BDC-3B00-FEEB-CDFB-5F396BCB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3C8AC-5BB7-09AE-257B-5D63EC51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051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0AA4FD-465D-6430-79B2-56FB5E2AF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E49D8-3A2D-9B2B-54D0-1417AD158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7E7A6-8186-2AEC-6388-74ED8CD58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070B8-C28A-70CE-7BBB-34D4AA1D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4D2DE-5D97-58D2-D8B8-850F13D8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746304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34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62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96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4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661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63499-0A7E-DD8C-29F4-81B7BF1B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E1D87-5317-0C84-54E4-B5195752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88A28-D514-0AC9-9466-09D2C72E4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A7523-E610-4761-BC9C-833A564C5F4C}" type="datetimeFigureOut">
              <a:rPr lang="ar-SY" smtClean="0"/>
              <a:t>04/01/1447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8A077-9DF8-D080-4D97-78B2D55EE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8FEBE-B4D7-8A66-9B07-ADE6BE717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5ADC9-B033-46AF-BC03-696F33513D08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21292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slide" Target="slide13.xml"/><Relationship Id="rId18" Type="http://schemas.openxmlformats.org/officeDocument/2006/relationships/image" Target="../media/image29.svg"/><Relationship Id="rId3" Type="http://schemas.openxmlformats.org/officeDocument/2006/relationships/image" Target="../media/image22.png"/><Relationship Id="rId21" Type="http://schemas.openxmlformats.org/officeDocument/2006/relationships/image" Target="../media/image32.png"/><Relationship Id="rId7" Type="http://schemas.openxmlformats.org/officeDocument/2006/relationships/slide" Target="slide11.xml"/><Relationship Id="rId12" Type="http://schemas.openxmlformats.org/officeDocument/2006/relationships/image" Target="../media/image25.png"/><Relationship Id="rId17" Type="http://schemas.openxmlformats.org/officeDocument/2006/relationships/image" Target="../media/image28.png"/><Relationship Id="rId2" Type="http://schemas.openxmlformats.org/officeDocument/2006/relationships/image" Target="../media/image3.png"/><Relationship Id="rId16" Type="http://schemas.openxmlformats.org/officeDocument/2006/relationships/image" Target="../media/image27.sv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5" Type="http://schemas.openxmlformats.org/officeDocument/2006/relationships/image" Target="../media/image26.png"/><Relationship Id="rId10" Type="http://schemas.openxmlformats.org/officeDocument/2006/relationships/slide" Target="slide12.xml"/><Relationship Id="rId19" Type="http://schemas.openxmlformats.org/officeDocument/2006/relationships/image" Target="../media/image30.png"/><Relationship Id="rId4" Type="http://schemas.openxmlformats.org/officeDocument/2006/relationships/slide" Target="slide10.xml"/><Relationship Id="rId9" Type="http://schemas.openxmlformats.org/officeDocument/2006/relationships/image" Target="../media/image24.png"/><Relationship Id="rId14" Type="http://schemas.openxmlformats.org/officeDocument/2006/relationships/image" Target="../media/image25.png"/><Relationship Id="rId22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34AC9E-9A05-936D-CFAB-A1B0834E3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646643-F62A-00E0-18A3-1E8FF0B06046}"/>
              </a:ext>
            </a:extLst>
          </p:cNvPr>
          <p:cNvSpPr/>
          <p:nvPr/>
        </p:nvSpPr>
        <p:spPr>
          <a:xfrm>
            <a:off x="12067165" y="7601854"/>
            <a:ext cx="1582606" cy="336884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1003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Y" dirty="0">
              <a:ln>
                <a:solidFill>
                  <a:srgbClr val="7030A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7230C4-5D4E-BD21-44CC-85DCBC9D5CB9}"/>
              </a:ext>
            </a:extLst>
          </p:cNvPr>
          <p:cNvSpPr txBox="1"/>
          <p:nvPr/>
        </p:nvSpPr>
        <p:spPr>
          <a:xfrm>
            <a:off x="1191295" y="1684635"/>
            <a:ext cx="8512935" cy="1337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Y" sz="36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مشروع تخرج اختصاص ذكاء اصطناعي</a:t>
            </a:r>
            <a:endParaRPr lang="ar-SY" sz="3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Y" sz="36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نظام تنبيه وانذار السائق </a:t>
            </a:r>
            <a:endParaRPr lang="ar-SY" sz="3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319B6-A66F-F16F-5542-46EA65CBBE1D}"/>
              </a:ext>
            </a:extLst>
          </p:cNvPr>
          <p:cNvSpPr txBox="1"/>
          <p:nvPr/>
        </p:nvSpPr>
        <p:spPr>
          <a:xfrm>
            <a:off x="-140677" y="3231311"/>
            <a:ext cx="5112913" cy="106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Y" sz="3600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بإ</a:t>
            </a:r>
            <a:r>
              <a:rPr lang="ar-SY" sz="3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شرف :</a:t>
            </a:r>
            <a:r>
              <a:rPr lang="ar-SY" sz="3600" kern="100" dirty="0">
                <a:solidFill>
                  <a:srgbClr val="F94CA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Y" sz="3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م. خالد اسماعيل</a:t>
            </a:r>
            <a:endParaRPr lang="ar-SY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67D65B-5FB1-D816-329A-3D6B039938A0}"/>
              </a:ext>
            </a:extLst>
          </p:cNvPr>
          <p:cNvSpPr txBox="1"/>
          <p:nvPr/>
        </p:nvSpPr>
        <p:spPr>
          <a:xfrm>
            <a:off x="2340116" y="4246730"/>
            <a:ext cx="6635839" cy="2558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Y" sz="3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الطلاب:</a:t>
            </a:r>
          </a:p>
          <a:p>
            <a:pPr marR="0" lvl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Y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أحمد ظاهر                 يوسف الشيخ طه</a:t>
            </a:r>
          </a:p>
          <a:p>
            <a:pPr marR="0" lvl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ar-SY" sz="24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Y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نضال صالح </a:t>
            </a:r>
          </a:p>
          <a:p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20AFB-3D10-E883-6CF6-49176BC24C42}"/>
              </a:ext>
            </a:extLst>
          </p:cNvPr>
          <p:cNvSpPr txBox="1"/>
          <p:nvPr/>
        </p:nvSpPr>
        <p:spPr>
          <a:xfrm>
            <a:off x="6343835" y="3231311"/>
            <a:ext cx="704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Y" sz="3600" dirty="0">
                <a:solidFill>
                  <a:srgbClr val="FF0000"/>
                </a:solidFill>
              </a:rPr>
              <a:t>رئيس القسم : </a:t>
            </a:r>
            <a:r>
              <a:rPr lang="ar-SY" sz="3600" dirty="0">
                <a:solidFill>
                  <a:srgbClr val="002060"/>
                </a:solidFill>
              </a:rPr>
              <a:t>م . وسيم الماضي</a:t>
            </a:r>
            <a:endParaRPr lang="LID4096" sz="3600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29F2FA-4D8B-5F5C-4660-DD2468F1D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60" y="378927"/>
            <a:ext cx="1244181" cy="16703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55F4B9-723E-C2DB-9341-7751ABE57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230" y="378927"/>
            <a:ext cx="1981162" cy="19744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028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4784AC-9182-FF55-512E-011AD6660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2B1637-56A7-4EFE-FD6A-764B3F5DE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769257"/>
            <a:ext cx="5747657" cy="4586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7C42B2-3562-698A-314B-7A6435B7B22E}"/>
              </a:ext>
            </a:extLst>
          </p:cNvPr>
          <p:cNvSpPr txBox="1"/>
          <p:nvPr/>
        </p:nvSpPr>
        <p:spPr>
          <a:xfrm>
            <a:off x="7460343" y="769257"/>
            <a:ext cx="3817257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r"/>
            <a:r>
              <a:rPr lang="ar-SY" sz="4400" dirty="0">
                <a:solidFill>
                  <a:srgbClr val="FF0000"/>
                </a:solidFill>
              </a:rPr>
              <a:t>المقدمة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34FD8-8CEC-F33A-C653-28BB2EDC7252}"/>
              </a:ext>
            </a:extLst>
          </p:cNvPr>
          <p:cNvSpPr txBox="1"/>
          <p:nvPr/>
        </p:nvSpPr>
        <p:spPr>
          <a:xfrm>
            <a:off x="6415314" y="1756229"/>
            <a:ext cx="542834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r"/>
            <a:r>
              <a:rPr lang="ar-SY" sz="2400" dirty="0"/>
              <a:t>🚗 </a:t>
            </a:r>
            <a:r>
              <a:rPr lang="ar-SY" sz="2400" dirty="0">
                <a:solidFill>
                  <a:srgbClr val="002060"/>
                </a:solidFill>
              </a:rPr>
              <a:t>تتزايد حوادث المرور الناتجة عن </a:t>
            </a:r>
            <a:r>
              <a:rPr lang="ar-SY" sz="2400" b="1" dirty="0">
                <a:solidFill>
                  <a:srgbClr val="002060"/>
                </a:solidFill>
              </a:rPr>
              <a:t>تشتت انتباه السائق</a:t>
            </a:r>
            <a:r>
              <a:rPr lang="ar-SY" sz="2400" dirty="0">
                <a:solidFill>
                  <a:srgbClr val="002060"/>
                </a:solidFill>
              </a:rPr>
              <a:t> أو </a:t>
            </a:r>
            <a:r>
              <a:rPr lang="ar-SY" sz="2400" b="1" dirty="0">
                <a:solidFill>
                  <a:srgbClr val="002060"/>
                </a:solidFill>
              </a:rPr>
              <a:t>النعاس أثناء القيادة</a:t>
            </a:r>
            <a:r>
              <a:rPr lang="ar-SY" sz="2400" dirty="0">
                <a:solidFill>
                  <a:srgbClr val="002060"/>
                </a:solidFill>
              </a:rPr>
              <a:t>، خاصةً في الطرق السريعة أو الرحلات الطويلة.</a:t>
            </a:r>
          </a:p>
        </p:txBody>
      </p:sp>
    </p:spTree>
    <p:extLst>
      <p:ext uri="{BB962C8B-B14F-4D97-AF65-F5344CB8AC3E}">
        <p14:creationId xmlns:p14="http://schemas.microsoft.com/office/powerpoint/2010/main" val="411617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CDDE07-6440-0472-E0BB-1E0630DFBBFC}"/>
              </a:ext>
            </a:extLst>
          </p:cNvPr>
          <p:cNvSpPr txBox="1"/>
          <p:nvPr/>
        </p:nvSpPr>
        <p:spPr>
          <a:xfrm>
            <a:off x="310886" y="626180"/>
            <a:ext cx="6264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4800" b="1" dirty="0">
                <a:solidFill>
                  <a:srgbClr val="00B0F0"/>
                </a:solidFill>
              </a:rPr>
              <a:t>نظام تنبيه وإنذار السائق: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35EFEA-92F6-E3D0-73CC-ABC8E45058A2}"/>
              </a:ext>
            </a:extLst>
          </p:cNvPr>
          <p:cNvSpPr txBox="1"/>
          <p:nvPr/>
        </p:nvSpPr>
        <p:spPr>
          <a:xfrm>
            <a:off x="783771" y="2220686"/>
            <a:ext cx="5791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r"/>
            <a:r>
              <a:rPr lang="ar-SY" sz="2400" dirty="0"/>
              <a:t>نظام التنبيه والإنذار للسائقين هو حل فعال لتعزيز السلامة والأمان على الطرقات.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5C8E6D2-180F-5A0B-36C0-B8B2FA08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086" y="0"/>
            <a:ext cx="4992914" cy="686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093A89A-9F52-F478-4DD4-E098CEAA7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093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725436" y="1401435"/>
            <a:ext cx="289938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6000" b="1" dirty="0">
                <a:solidFill>
                  <a:srgbClr val="FF3399"/>
                </a:solidFill>
                <a:latin typeface="Inconsolata Bold" pitchFamily="34" charset="0"/>
                <a:ea typeface="Inconsolata Bold" pitchFamily="34" charset="-122"/>
              </a:rPr>
              <a:t>الفئة المستهدفة</a:t>
            </a:r>
            <a:endParaRPr lang="en-US" sz="6000" dirty="0">
              <a:solidFill>
                <a:srgbClr val="FF3399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56656" y="2683668"/>
            <a:ext cx="425252" cy="42525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11398340" y="2754510"/>
            <a:ext cx="141783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777894" y="270023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7000"/>
              </a:lnSpc>
              <a:spcAft>
                <a:spcPts val="667"/>
              </a:spcAft>
            </a:pPr>
            <a:r>
              <a:rPr lang="ar-SA" sz="2800" b="1" kern="1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السائقون الأفراد</a:t>
            </a:r>
            <a:endParaRPr lang="en-US" sz="2800" kern="10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61727" y="3108920"/>
            <a:ext cx="2882702" cy="1143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</a:rPr>
              <a:t>النظام يتيح للسائقين الأفراد مستوى أعلى من الأمان الشخصي أثناء القيادة</a:t>
            </a:r>
            <a:r>
              <a:rPr lang="ar-SY" sz="20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ar-SY" sz="2000" dirty="0"/>
          </a:p>
        </p:txBody>
      </p:sp>
      <p:sp>
        <p:nvSpPr>
          <p:cNvPr id="7" name="Shape 5"/>
          <p:cNvSpPr/>
          <p:nvPr/>
        </p:nvSpPr>
        <p:spPr>
          <a:xfrm>
            <a:off x="7274984" y="2688164"/>
            <a:ext cx="425252" cy="42525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8" name="Text 6"/>
          <p:cNvSpPr/>
          <p:nvPr/>
        </p:nvSpPr>
        <p:spPr>
          <a:xfrm>
            <a:off x="7416669" y="2759006"/>
            <a:ext cx="141783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73792" y="275743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ar-SA" sz="28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شركات التأمين 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065126" y="3257051"/>
            <a:ext cx="3024483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ar-SY" sz="2000" dirty="0"/>
              <a:t>تطوير مهارات القيادة.</a:t>
            </a:r>
          </a:p>
        </p:txBody>
      </p:sp>
      <p:sp>
        <p:nvSpPr>
          <p:cNvPr id="11" name="Shape 9"/>
          <p:cNvSpPr/>
          <p:nvPr/>
        </p:nvSpPr>
        <p:spPr>
          <a:xfrm>
            <a:off x="3795906" y="2728217"/>
            <a:ext cx="425252" cy="42525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12" name="Text 10"/>
          <p:cNvSpPr/>
          <p:nvPr/>
        </p:nvSpPr>
        <p:spPr>
          <a:xfrm>
            <a:off x="3937641" y="2799059"/>
            <a:ext cx="141783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407" y="2698136"/>
            <a:ext cx="35442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ar-SA" sz="28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شركات النقل 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9507" y="3106604"/>
            <a:ext cx="28827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7000"/>
              </a:lnSpc>
              <a:spcAft>
                <a:spcPts val="667"/>
              </a:spcAft>
              <a:buSzPts val="1000"/>
              <a:tabLst>
                <a:tab pos="380985" algn="l"/>
              </a:tabLst>
            </a:pPr>
            <a:r>
              <a:rPr lang="ar-SA" sz="2000" kern="100" dirty="0">
                <a:latin typeface="Calibri" panose="020F0502020204030204" pitchFamily="34" charset="0"/>
                <a:ea typeface="Calibri" panose="020F0502020204030204" pitchFamily="34" charset="0"/>
              </a:rPr>
              <a:t>يحافظ على البضائع و يقلل التكاليف الناتجة عن الحوادث</a:t>
            </a:r>
            <a:r>
              <a:rPr lang="ar-EG" sz="2000" kern="100" dirty="0">
                <a:latin typeface="Calibri" panose="020F0502020204030204" pitchFamily="34" charset="0"/>
                <a:ea typeface="Calibri" panose="020F0502020204030204" pitchFamily="34" charset="0"/>
              </a:rPr>
              <a:t> .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4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88460" y="512069"/>
            <a:ext cx="4652268" cy="5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4541"/>
              </a:lnSpc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آلية عمل النظام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3699272" y="1372692"/>
            <a:ext cx="7841457" cy="297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333"/>
              </a:lnSpc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يعمل النظام من خلال عدة مكونات تتكامل معًا لتوفير مراقبة فعالة للسائق.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0355" y="1879799"/>
            <a:ext cx="930374" cy="11165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98235" y="2065834"/>
            <a:ext cx="232608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50"/>
              </a:lnSpc>
            </a:pPr>
            <a:r>
              <a:rPr lang="en-US" sz="20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المراقبة</a:t>
            </a: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بالكاميرا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3699272" y="2468166"/>
            <a:ext cx="6725047" cy="297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333"/>
              </a:lnSpc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كاميرا صغيرة مثبتة داخل المركبة تراقب وجه السائق باستمرار.</a:t>
            </a:r>
            <a:endParaRPr lang="en-US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355" y="2996307"/>
            <a:ext cx="930374" cy="11165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98235" y="3182343"/>
            <a:ext cx="232608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50"/>
              </a:lnSpc>
            </a:pPr>
            <a:r>
              <a:rPr lang="en-US" sz="20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تحليل</a:t>
            </a: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البيانات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3699272" y="3584675"/>
            <a:ext cx="6725047" cy="297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333"/>
              </a:lnSpc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يتم تحليل لقطات الكاميرا في الزمن </a:t>
            </a:r>
            <a:r>
              <a:rPr lang="en-US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الحقيقي</a:t>
            </a: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.</a:t>
            </a:r>
            <a:endParaRPr 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355" y="4112816"/>
            <a:ext cx="930374" cy="11165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98235" y="4298851"/>
            <a:ext cx="232608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50"/>
              </a:lnSpc>
            </a:pPr>
            <a:r>
              <a:rPr lang="en-US" sz="20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اكتشاف</a:t>
            </a: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الخطر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3699272" y="4701183"/>
            <a:ext cx="6725047" cy="297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333"/>
              </a:lnSpc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تحديد حالات النعاس، </a:t>
            </a:r>
            <a:r>
              <a:rPr lang="en-US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التشتت</a:t>
            </a:r>
            <a:r>
              <a:rPr lang="ar-SY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</a:t>
            </a:r>
            <a:r>
              <a:rPr lang="ar-SY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0355" y="5229324"/>
            <a:ext cx="930374" cy="11165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98235" y="5415360"/>
            <a:ext cx="232608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50"/>
              </a:lnSpc>
            </a:pPr>
            <a:r>
              <a:rPr lang="en-US" sz="20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التنبيه</a:t>
            </a: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والإجراء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3699272" y="5817692"/>
            <a:ext cx="6725047" cy="297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333"/>
              </a:lnSpc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إطلاق تنبيهات صوتية فورية وإرسال إشعارات وتخزين البيانات للرجوع إليها.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B8AA91-C601-7610-4430-11333E4A7241}"/>
              </a:ext>
            </a:extLst>
          </p:cNvPr>
          <p:cNvSpPr/>
          <p:nvPr/>
        </p:nvSpPr>
        <p:spPr>
          <a:xfrm>
            <a:off x="10610355" y="6467773"/>
            <a:ext cx="1581645" cy="29775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Y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A1D3A3-46F4-637E-2C0C-E03F03052895}"/>
              </a:ext>
            </a:extLst>
          </p:cNvPr>
          <p:cNvSpPr txBox="1"/>
          <p:nvPr/>
        </p:nvSpPr>
        <p:spPr>
          <a:xfrm>
            <a:off x="8186058" y="362857"/>
            <a:ext cx="3556000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Y" sz="5400" dirty="0">
                <a:solidFill>
                  <a:srgbClr val="00B0F0"/>
                </a:solidFill>
              </a:rPr>
              <a:t>مخطط  </a:t>
            </a:r>
          </a:p>
          <a:p>
            <a:pPr algn="ctr"/>
            <a:r>
              <a:rPr lang="ar-SY" sz="5400" dirty="0">
                <a:solidFill>
                  <a:srgbClr val="00B0F0"/>
                </a:solidFill>
              </a:rPr>
              <a:t>لعمل النظام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C8590D-C791-AD9B-B3EE-4CA3DE7A1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58" y="132890"/>
            <a:ext cx="7264492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9564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AC6FDC-0F09-7B5F-0D15-6AB0B3B8C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" y="0"/>
            <a:ext cx="121920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D117CC4-F185-F84E-62CF-722208B05400}"/>
              </a:ext>
            </a:extLst>
          </p:cNvPr>
          <p:cNvSpPr/>
          <p:nvPr/>
        </p:nvSpPr>
        <p:spPr>
          <a:xfrm>
            <a:off x="7073900" y="462161"/>
            <a:ext cx="4531222" cy="52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4125"/>
              </a:lnSpc>
            </a:pPr>
            <a:r>
              <a:rPr lang="ar-SY" sz="3292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</a:t>
            </a:r>
            <a:r>
              <a:rPr lang="en-US" sz="3292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أدوات</a:t>
            </a:r>
            <a:r>
              <a:rPr lang="en-US" sz="3292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ar-SY" sz="3292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والتقنيات المستخدمة</a:t>
            </a:r>
            <a:endParaRPr lang="en-US" sz="3292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EE15B0F-3AA1-1CCC-1070-A71F2ADA4679}"/>
              </a:ext>
            </a:extLst>
          </p:cNvPr>
          <p:cNvSpPr/>
          <p:nvPr/>
        </p:nvSpPr>
        <p:spPr>
          <a:xfrm>
            <a:off x="586879" y="1321494"/>
            <a:ext cx="11018243" cy="26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083"/>
              </a:lnSpc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تم بناء النظام باستخدام مجموعة من الأدوات مفتوحة المصدر والتقنيات الحديثة.</a:t>
            </a:r>
            <a:endParaRPr lang="en-US" sz="20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C60D567-CAA8-0EED-4E77-8EBBEF1FA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5695" y="7882585"/>
            <a:ext cx="419199" cy="419199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87AE591E-8EBF-9601-3520-41EEDF29CF7E}"/>
              </a:ext>
            </a:extLst>
          </p:cNvPr>
          <p:cNvSpPr/>
          <p:nvPr/>
        </p:nvSpPr>
        <p:spPr>
          <a:xfrm>
            <a:off x="-2995696" y="8511334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Python</a:t>
            </a:r>
            <a:endParaRPr lang="en-US" sz="1625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2814E34-8A8D-BC68-FF02-00DFD6A65F67}"/>
              </a:ext>
            </a:extLst>
          </p:cNvPr>
          <p:cNvSpPr/>
          <p:nvPr/>
        </p:nvSpPr>
        <p:spPr>
          <a:xfrm>
            <a:off x="-2995695" y="8873979"/>
            <a:ext cx="1165720" cy="40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>
              <a:lnSpc>
                <a:spcPts val="2083"/>
              </a:lnSpc>
            </a:pPr>
            <a:r>
              <a:rPr lang="en-US" sz="129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لغة البرمجة الأساسية</a:t>
            </a:r>
            <a:endParaRPr lang="en-US" sz="1292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CAE974E-F66E-C665-B578-4C9D8DE3C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36" y="8179494"/>
            <a:ext cx="419199" cy="419199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69E4628F-AA5E-4AF9-2FAB-9D8C236825A3}"/>
              </a:ext>
            </a:extLst>
          </p:cNvPr>
          <p:cNvSpPr/>
          <p:nvPr/>
        </p:nvSpPr>
        <p:spPr>
          <a:xfrm>
            <a:off x="4546635" y="8808243"/>
            <a:ext cx="3151683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OpenCV, Dlib, MediaPipe</a:t>
            </a:r>
            <a:endParaRPr lang="en-US" sz="1625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98EBEC4-E005-E83B-9FBC-968334EFCFD8}"/>
              </a:ext>
            </a:extLst>
          </p:cNvPr>
          <p:cNvSpPr/>
          <p:nvPr/>
        </p:nvSpPr>
        <p:spPr>
          <a:xfrm>
            <a:off x="4546635" y="9170888"/>
            <a:ext cx="5404346" cy="26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>
              <a:lnSpc>
                <a:spcPts val="2083"/>
              </a:lnSpc>
            </a:pPr>
            <a:r>
              <a:rPr lang="en-US" sz="129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لمعالجة الصور ورؤية الكمبيوتر</a:t>
            </a:r>
            <a:endParaRPr lang="en-US" sz="1292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5CDB5B6E-A754-4D05-77DD-744C48D7B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63226" y="3592025"/>
            <a:ext cx="419199" cy="419199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33CD5703-FE5F-A844-F6D3-6227F39CD886}"/>
              </a:ext>
            </a:extLst>
          </p:cNvPr>
          <p:cNvSpPr/>
          <p:nvPr/>
        </p:nvSpPr>
        <p:spPr>
          <a:xfrm>
            <a:off x="15163226" y="4220774"/>
            <a:ext cx="2134294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Pygame, Numpy</a:t>
            </a:r>
            <a:endParaRPr lang="en-US" sz="1625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533BE59-5E38-3DBD-2731-1CBC8801A404}"/>
              </a:ext>
            </a:extLst>
          </p:cNvPr>
          <p:cNvSpPr/>
          <p:nvPr/>
        </p:nvSpPr>
        <p:spPr>
          <a:xfrm>
            <a:off x="15163226" y="4583417"/>
            <a:ext cx="1950768" cy="41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>
              <a:lnSpc>
                <a:spcPts val="2083"/>
              </a:lnSpc>
            </a:pPr>
            <a:r>
              <a:rPr lang="en-US" sz="129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للتنبيهات الصوتية والمعالجة العددية</a:t>
            </a:r>
            <a:endParaRPr lang="en-US" sz="1292" dirty="0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14330F8-53DF-40D6-06F8-6379A642E0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534605" y="3306124"/>
            <a:ext cx="419199" cy="419199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E015D6E9-6FFE-6FE0-53DD-09AA6703E685}"/>
              </a:ext>
            </a:extLst>
          </p:cNvPr>
          <p:cNvSpPr/>
          <p:nvPr/>
        </p:nvSpPr>
        <p:spPr>
          <a:xfrm>
            <a:off x="-2534606" y="3934873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Tkinter</a:t>
            </a:r>
            <a:endParaRPr lang="en-US" sz="1625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22BF72C-D5EB-9338-3840-299A24FA68D5}"/>
              </a:ext>
            </a:extLst>
          </p:cNvPr>
          <p:cNvSpPr/>
          <p:nvPr/>
        </p:nvSpPr>
        <p:spPr>
          <a:xfrm>
            <a:off x="-2534606" y="4297517"/>
            <a:ext cx="5404346" cy="26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>
              <a:lnSpc>
                <a:spcPts val="2083"/>
              </a:lnSpc>
            </a:pPr>
            <a:r>
              <a:rPr lang="en-US" sz="129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لتطوير الواجهة الرسومية</a:t>
            </a:r>
            <a:endParaRPr lang="en-US" sz="1292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3BBB718B-1DA0-6B66-7F2B-78DF1DD81AF4}"/>
              </a:ext>
            </a:extLst>
          </p:cNvPr>
          <p:cNvSpPr/>
          <p:nvPr/>
        </p:nvSpPr>
        <p:spPr>
          <a:xfrm>
            <a:off x="15372824" y="8897340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>
              <a:lnSpc>
                <a:spcPts val="2042"/>
              </a:lnSpc>
            </a:pPr>
            <a:r>
              <a:rPr lang="ar-SY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الاشعارات</a:t>
            </a:r>
            <a:endParaRPr lang="en-US" sz="1625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420559BA-6BBF-CC03-BF92-34AD691A441B}"/>
              </a:ext>
            </a:extLst>
          </p:cNvPr>
          <p:cNvSpPr/>
          <p:nvPr/>
        </p:nvSpPr>
        <p:spPr>
          <a:xfrm>
            <a:off x="15372825" y="9259984"/>
            <a:ext cx="2096094" cy="47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>
              <a:lnSpc>
                <a:spcPts val="2083"/>
              </a:lnSpc>
            </a:pPr>
            <a:r>
              <a:rPr lang="en-US" sz="129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تنبيهات صوتية وإشعارات متعددة</a:t>
            </a:r>
            <a:endParaRPr lang="en-US" sz="1292" dirty="0"/>
          </a:p>
        </p:txBody>
      </p:sp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C49E87FE-90CC-9CD1-8539-989ABB5D80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636" y="-2449871"/>
            <a:ext cx="419199" cy="419199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7AE568A5-EC84-01A0-FA67-F413E005DA7F}"/>
              </a:ext>
            </a:extLst>
          </p:cNvPr>
          <p:cNvSpPr/>
          <p:nvPr/>
        </p:nvSpPr>
        <p:spPr>
          <a:xfrm>
            <a:off x="4546635" y="-1821122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SQLite</a:t>
            </a:r>
            <a:endParaRPr lang="en-US" sz="1625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CB173948-2A43-091F-288F-061F073D2322}"/>
              </a:ext>
            </a:extLst>
          </p:cNvPr>
          <p:cNvSpPr/>
          <p:nvPr/>
        </p:nvSpPr>
        <p:spPr>
          <a:xfrm>
            <a:off x="4546635" y="-1458477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>
              <a:lnSpc>
                <a:spcPts val="2083"/>
              </a:lnSpc>
            </a:pPr>
            <a:r>
              <a:rPr lang="en-US" sz="1292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قاعدة بيانات محلية لتخزين البيانات</a:t>
            </a:r>
            <a:endParaRPr lang="en-US" sz="1292" dirty="0"/>
          </a:p>
        </p:txBody>
      </p:sp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26C1C18A-9086-428C-9DCF-8B925DC28C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37606" y="-2191768"/>
            <a:ext cx="501665" cy="50166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A29EBF2-8520-70BC-015F-98672413B8E3}"/>
              </a:ext>
            </a:extLst>
          </p:cNvPr>
          <p:cNvSpPr txBox="1"/>
          <p:nvPr/>
        </p:nvSpPr>
        <p:spPr>
          <a:xfrm>
            <a:off x="-2737606" y="-1599624"/>
            <a:ext cx="1322400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18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تحديد</a:t>
            </a: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18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الموقع</a:t>
            </a:r>
            <a:endParaRPr lang="en-US" sz="1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11C464-9867-1576-61D2-4F764B7CC14E}"/>
              </a:ext>
            </a:extLst>
          </p:cNvPr>
          <p:cNvSpPr txBox="1"/>
          <p:nvPr/>
        </p:nvSpPr>
        <p:spPr>
          <a:xfrm>
            <a:off x="-2786095" y="-1269522"/>
            <a:ext cx="789611" cy="41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9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IP_Info</a:t>
            </a:r>
            <a:endParaRPr lang="en-US" sz="1290" dirty="0"/>
          </a:p>
        </p:txBody>
      </p:sp>
      <p:pic>
        <p:nvPicPr>
          <p:cNvPr id="2" name="Graphic 1" descr="Send with solid fill">
            <a:extLst>
              <a:ext uri="{FF2B5EF4-FFF2-40B4-BE49-F238E27FC236}">
                <a16:creationId xmlns:a16="http://schemas.microsoft.com/office/drawing/2014/main" id="{CED8C289-E1E3-FC12-305D-932B9DD29C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72824" y="8250893"/>
            <a:ext cx="522478" cy="5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AC6FDC-0F09-7B5F-0D15-6AB0B3B8C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" y="0"/>
            <a:ext cx="121920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D117CC4-F185-F84E-62CF-722208B05400}"/>
              </a:ext>
            </a:extLst>
          </p:cNvPr>
          <p:cNvSpPr/>
          <p:nvPr/>
        </p:nvSpPr>
        <p:spPr>
          <a:xfrm>
            <a:off x="7073900" y="462161"/>
            <a:ext cx="4531222" cy="52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4125"/>
              </a:lnSpc>
            </a:pPr>
            <a:r>
              <a:rPr lang="ar-SY" sz="3292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</a:t>
            </a:r>
            <a:r>
              <a:rPr lang="en-US" sz="3292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أدوات</a:t>
            </a:r>
            <a:r>
              <a:rPr lang="en-US" sz="3292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ar-SY" sz="3292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والتقنيات المستخدمة</a:t>
            </a:r>
            <a:endParaRPr lang="en-US" sz="3292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EE15B0F-3AA1-1CCC-1070-A71F2ADA4679}"/>
              </a:ext>
            </a:extLst>
          </p:cNvPr>
          <p:cNvSpPr/>
          <p:nvPr/>
        </p:nvSpPr>
        <p:spPr>
          <a:xfrm>
            <a:off x="586879" y="1321494"/>
            <a:ext cx="11018243" cy="26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083"/>
              </a:lnSpc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تم بناء النظام باستخدام مجموعة من الأدوات مفتوحة المصدر والتقنيات الحديثة.</a:t>
            </a:r>
            <a:endParaRPr lang="en-US" sz="20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C60D567-CAA8-0EED-4E77-8EBBEF1FA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474" y="2533113"/>
            <a:ext cx="419199" cy="419199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87AE591E-8EBF-9601-3520-41EEDF29CF7E}"/>
              </a:ext>
            </a:extLst>
          </p:cNvPr>
          <p:cNvSpPr/>
          <p:nvPr/>
        </p:nvSpPr>
        <p:spPr>
          <a:xfrm>
            <a:off x="8575473" y="3161862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Python</a:t>
            </a:r>
            <a:endParaRPr lang="en-US" sz="1625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CAE974E-F66E-C665-B578-4C9D8DE3C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303" y="1906567"/>
            <a:ext cx="419199" cy="419199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69E4628F-AA5E-4AF9-2FAB-9D8C236825A3}"/>
              </a:ext>
            </a:extLst>
          </p:cNvPr>
          <p:cNvSpPr/>
          <p:nvPr/>
        </p:nvSpPr>
        <p:spPr>
          <a:xfrm>
            <a:off x="4882302" y="2535316"/>
            <a:ext cx="3151683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OpenCV, Dlib, MediaPipe</a:t>
            </a:r>
            <a:endParaRPr lang="en-US" sz="1625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5CDB5B6E-A754-4D05-77DD-744C48D7B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018" y="2467334"/>
            <a:ext cx="419199" cy="419199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33CD5703-FE5F-A844-F6D3-6227F39CD886}"/>
              </a:ext>
            </a:extLst>
          </p:cNvPr>
          <p:cNvSpPr/>
          <p:nvPr/>
        </p:nvSpPr>
        <p:spPr>
          <a:xfrm>
            <a:off x="1348018" y="3096083"/>
            <a:ext cx="2134294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Pygame, Numpy</a:t>
            </a:r>
            <a:endParaRPr lang="en-US" sz="1625" dirty="0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14330F8-53DF-40D6-06F8-6379A642E0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303" y="3585448"/>
            <a:ext cx="419199" cy="419199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E015D6E9-6FFE-6FE0-53DD-09AA6703E685}"/>
              </a:ext>
            </a:extLst>
          </p:cNvPr>
          <p:cNvSpPr/>
          <p:nvPr/>
        </p:nvSpPr>
        <p:spPr>
          <a:xfrm>
            <a:off x="4882302" y="4214197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Tkinter</a:t>
            </a:r>
            <a:endParaRPr lang="en-US" sz="1625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3BBB718B-1DA0-6B66-7F2B-78DF1DD81AF4}"/>
              </a:ext>
            </a:extLst>
          </p:cNvPr>
          <p:cNvSpPr/>
          <p:nvPr/>
        </p:nvSpPr>
        <p:spPr>
          <a:xfrm>
            <a:off x="1348017" y="4774963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>
              <a:lnSpc>
                <a:spcPts val="2042"/>
              </a:lnSpc>
            </a:pPr>
            <a:r>
              <a:rPr lang="ar-SY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الاشعارات</a:t>
            </a:r>
            <a:endParaRPr lang="en-US" sz="1625" dirty="0"/>
          </a:p>
        </p:txBody>
      </p:sp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C49E87FE-90CC-9CD1-8539-989ABB5D80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303" y="5264328"/>
            <a:ext cx="419199" cy="419199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7AE568A5-EC84-01A0-FA67-F413E005DA7F}"/>
              </a:ext>
            </a:extLst>
          </p:cNvPr>
          <p:cNvSpPr/>
          <p:nvPr/>
        </p:nvSpPr>
        <p:spPr>
          <a:xfrm>
            <a:off x="4882302" y="5893077"/>
            <a:ext cx="2096095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SQLite</a:t>
            </a:r>
            <a:endParaRPr lang="en-US" sz="1625" dirty="0"/>
          </a:p>
        </p:txBody>
      </p:sp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26C1C18A-9086-428C-9DCF-8B925DC28C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5474" y="4133298"/>
            <a:ext cx="501665" cy="50166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A29EBF2-8520-70BC-015F-98672413B8E3}"/>
              </a:ext>
            </a:extLst>
          </p:cNvPr>
          <p:cNvSpPr txBox="1"/>
          <p:nvPr/>
        </p:nvSpPr>
        <p:spPr>
          <a:xfrm>
            <a:off x="8575474" y="4725442"/>
            <a:ext cx="1322400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18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تحديد</a:t>
            </a: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18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الموقع</a:t>
            </a:r>
            <a:endParaRPr lang="en-US" sz="1800" dirty="0"/>
          </a:p>
        </p:txBody>
      </p:sp>
      <p:pic>
        <p:nvPicPr>
          <p:cNvPr id="3" name="Graphic 2" descr="Send with solid fill">
            <a:extLst>
              <a:ext uri="{FF2B5EF4-FFF2-40B4-BE49-F238E27FC236}">
                <a16:creationId xmlns:a16="http://schemas.microsoft.com/office/drawing/2014/main" id="{3BAB246F-353D-2657-AD36-A41C1499CD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5692" y="4004647"/>
            <a:ext cx="522478" cy="5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01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F7357-2C75-D54B-E400-2AE1C9CE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AD183681-630E-57A0-63F9-C8E5DC0CDB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1669471"/>
                  </p:ext>
                </p:extLst>
              </p:nvPr>
            </p:nvGraphicFramePr>
            <p:xfrm>
              <a:off x="9049530" y="1453967"/>
              <a:ext cx="2188816" cy="1231209"/>
            </p:xfrm>
            <a:graphic>
              <a:graphicData uri="http://schemas.microsoft.com/office/powerpoint/2016/slidezoom">
                <pslz:sldZm>
                  <pslz:sldZmObj sldId="262" cId="1325365897">
                    <pslz:zmPr id="{36820D07-9EE9-4203-BDBB-79D6E1B83055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88816" cy="1231209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outerShdw blurRad="292100" dist="139700" dir="2700000" algn="tl" rotWithShape="0">
                            <a:srgbClr val="333333">
                              <a:alpha val="65000"/>
                            </a:srgb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D183681-630E-57A0-63F9-C8E5DC0CDB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49530" y="1453967"/>
                <a:ext cx="2188816" cy="1231209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4C698109-CDA3-BD04-820D-6BDE347108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62788670"/>
                  </p:ext>
                </p:extLst>
              </p:nvPr>
            </p:nvGraphicFramePr>
            <p:xfrm>
              <a:off x="707236" y="1453967"/>
              <a:ext cx="2188816" cy="1279848"/>
            </p:xfrm>
            <a:graphic>
              <a:graphicData uri="http://schemas.microsoft.com/office/powerpoint/2016/slidezoom">
                <pslz:sldZm>
                  <pslz:sldZmObj sldId="263" cId="135771514">
                    <pslz:zmPr id="{BB9E6FC2-6ADF-4EEA-AC77-8B07C5969512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88816" cy="1279848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outerShdw blurRad="292100" dist="139700" dir="2700000" algn="tl" rotWithShape="0">
                            <a:srgbClr val="333333">
                              <a:alpha val="65000"/>
                            </a:srgb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4C698109-CDA3-BD04-820D-6BDE347108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7236" y="1453967"/>
                <a:ext cx="2188816" cy="1279848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8B7F4FB1-A9EA-914C-8135-79048DCCEF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3847751"/>
                  </p:ext>
                </p:extLst>
              </p:nvPr>
            </p:nvGraphicFramePr>
            <p:xfrm>
              <a:off x="821081" y="4665707"/>
              <a:ext cx="2188817" cy="1230722"/>
            </p:xfrm>
            <a:graphic>
              <a:graphicData uri="http://schemas.microsoft.com/office/powerpoint/2016/slidezoom">
                <pslz:sldZm>
                  <pslz:sldZmObj sldId="265" cId="737503530">
                    <pslz:zmPr id="{DBA4CA5A-A8BF-4D11-9868-DA5B995AB689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88817" cy="1230722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outerShdw blurRad="292100" dist="139700" dir="2700000" algn="tl" rotWithShape="0">
                            <a:srgbClr val="333333">
                              <a:alpha val="65000"/>
                            </a:srgb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8B7F4FB1-A9EA-914C-8135-79048DCCEF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1081" y="4665707"/>
                <a:ext cx="2188817" cy="1230722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572E6FC1-A8E0-465C-B5A0-D47CCD9A02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85746"/>
                  </p:ext>
                </p:extLst>
              </p:nvPr>
            </p:nvGraphicFramePr>
            <p:xfrm>
              <a:off x="9049530" y="4644902"/>
              <a:ext cx="2188816" cy="1183228"/>
            </p:xfrm>
            <a:graphic>
              <a:graphicData uri="http://schemas.microsoft.com/office/powerpoint/2016/slidezoom">
                <pslz:sldZm>
                  <pslz:sldZmObj sldId="264" cId="46117507">
                    <pslz:zmPr id="{0FD02E3A-C462-471C-A1B5-F1A1D1219ECD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88816" cy="1183228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outerShdw blurRad="292100" dist="139700" dir="2700000" algn="tl" rotWithShape="0">
                            <a:srgbClr val="333333">
                              <a:alpha val="65000"/>
                            </a:srgb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572E6FC1-A8E0-465C-B5A0-D47CCD9A02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49530" y="4644902"/>
                <a:ext cx="2188816" cy="1183228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mc:Fallback>
      </mc:AlternateContent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75E89D2A-1B30-C930-40ED-A650B9673DEC}"/>
              </a:ext>
            </a:extLst>
          </p:cNvPr>
          <p:cNvSpPr/>
          <p:nvPr/>
        </p:nvSpPr>
        <p:spPr>
          <a:xfrm>
            <a:off x="3099770" y="798060"/>
            <a:ext cx="5451800" cy="526187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Y">
              <a:solidFill>
                <a:schemeClr val="tx1"/>
              </a:solidFill>
            </a:endParaRPr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325A337F-94B7-77A8-2F6D-A83E1DEF3A20}"/>
              </a:ext>
            </a:extLst>
          </p:cNvPr>
          <p:cNvSpPr/>
          <p:nvPr/>
        </p:nvSpPr>
        <p:spPr>
          <a:xfrm>
            <a:off x="3227613" y="961571"/>
            <a:ext cx="5196115" cy="4934858"/>
          </a:xfrm>
          <a:prstGeom prst="flowChartConnector">
            <a:avLst/>
          </a:prstGeom>
          <a:solidFill>
            <a:srgbClr val="E1F6EB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Y">
              <a:solidFill>
                <a:schemeClr val="tx1"/>
              </a:solidFill>
            </a:endParaRPr>
          </a:p>
        </p:txBody>
      </p:sp>
      <p:grpSp>
        <p:nvGrpSpPr>
          <p:cNvPr id="6" name="الرأس">
            <a:extLst>
              <a:ext uri="{FF2B5EF4-FFF2-40B4-BE49-F238E27FC236}">
                <a16:creationId xmlns:a16="http://schemas.microsoft.com/office/drawing/2014/main" id="{9B88C87E-1E82-1CB1-651C-ABB4AC864758}"/>
              </a:ext>
            </a:extLst>
          </p:cNvPr>
          <p:cNvGrpSpPr/>
          <p:nvPr/>
        </p:nvGrpSpPr>
        <p:grpSpPr>
          <a:xfrm>
            <a:off x="3358242" y="1190170"/>
            <a:ext cx="4673604" cy="4572000"/>
            <a:chOff x="3222174" y="1190170"/>
            <a:chExt cx="4644572" cy="4572000"/>
          </a:xfrm>
        </p:grpSpPr>
        <p:sp>
          <p:nvSpPr>
            <p:cNvPr id="76" name="Partial Circle 75">
              <a:extLst>
                <a:ext uri="{FF2B5EF4-FFF2-40B4-BE49-F238E27FC236}">
                  <a16:creationId xmlns:a16="http://schemas.microsoft.com/office/drawing/2014/main" id="{D388961E-A7DA-F654-0130-69BC7A175FE5}"/>
                </a:ext>
              </a:extLst>
            </p:cNvPr>
            <p:cNvSpPr/>
            <p:nvPr/>
          </p:nvSpPr>
          <p:spPr>
            <a:xfrm rot="16200000">
              <a:off x="3258460" y="1153884"/>
              <a:ext cx="4572000" cy="4644572"/>
            </a:xfrm>
            <a:prstGeom prst="pie">
              <a:avLst>
                <a:gd name="adj1" fmla="val 10771111"/>
                <a:gd name="adj2" fmla="val 16199903"/>
              </a:avLst>
            </a:prstGeom>
            <a:solidFill>
              <a:srgbClr val="00B0F0">
                <a:alpha val="20000"/>
              </a:srgbClr>
            </a:solidFill>
            <a:ln w="31750">
              <a:solidFill>
                <a:srgbClr val="00B0F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pic>
          <p:nvPicPr>
            <p:cNvPr id="80" name="Graphic 79" descr="A depressed face">
              <a:extLst>
                <a:ext uri="{FF2B5EF4-FFF2-40B4-BE49-F238E27FC236}">
                  <a16:creationId xmlns:a16="http://schemas.microsoft.com/office/drawing/2014/main" id="{7B2C5049-DC95-4907-B501-B742BBD4E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048500" y="3934601"/>
              <a:ext cx="1093921" cy="1060772"/>
            </a:xfrm>
            <a:prstGeom prst="rect">
              <a:avLst/>
            </a:prstGeom>
          </p:spPr>
        </p:pic>
      </p:grpSp>
      <p:grpSp>
        <p:nvGrpSpPr>
          <p:cNvPr id="4" name="العين">
            <a:extLst>
              <a:ext uri="{FF2B5EF4-FFF2-40B4-BE49-F238E27FC236}">
                <a16:creationId xmlns:a16="http://schemas.microsoft.com/office/drawing/2014/main" id="{54C4B9A9-E28A-1DAA-5EF6-CB26270F11A7}"/>
              </a:ext>
            </a:extLst>
          </p:cNvPr>
          <p:cNvGrpSpPr/>
          <p:nvPr/>
        </p:nvGrpSpPr>
        <p:grpSpPr>
          <a:xfrm>
            <a:off x="3532413" y="1075871"/>
            <a:ext cx="4673602" cy="4572000"/>
            <a:chOff x="3367313" y="1075871"/>
            <a:chExt cx="4673602" cy="4572000"/>
          </a:xfrm>
        </p:grpSpPr>
        <p:sp>
          <p:nvSpPr>
            <p:cNvPr id="72" name="Partial Circle 71">
              <a:extLst>
                <a:ext uri="{FF2B5EF4-FFF2-40B4-BE49-F238E27FC236}">
                  <a16:creationId xmlns:a16="http://schemas.microsoft.com/office/drawing/2014/main" id="{393144E3-A266-A17B-BCA2-2D294EDA75A4}"/>
                </a:ext>
              </a:extLst>
            </p:cNvPr>
            <p:cNvSpPr/>
            <p:nvPr/>
          </p:nvSpPr>
          <p:spPr>
            <a:xfrm rot="5400000">
              <a:off x="3418114" y="1025070"/>
              <a:ext cx="4572000" cy="4673602"/>
            </a:xfrm>
            <a:prstGeom prst="pie">
              <a:avLst>
                <a:gd name="adj1" fmla="val 10771111"/>
                <a:gd name="adj2" fmla="val 16199903"/>
              </a:avLst>
            </a:prstGeom>
            <a:solidFill>
              <a:srgbClr val="92D050">
                <a:alpha val="20000"/>
              </a:srgbClr>
            </a:solidFill>
            <a:ln w="31750">
              <a:solidFill>
                <a:schemeClr val="accent6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pic>
          <p:nvPicPr>
            <p:cNvPr id="82" name="Graphic 81" descr="Eye with solid fill">
              <a:extLst>
                <a:ext uri="{FF2B5EF4-FFF2-40B4-BE49-F238E27FC236}">
                  <a16:creationId xmlns:a16="http://schemas.microsoft.com/office/drawing/2014/main" id="{CB6FE451-EB00-CCFA-58D9-563F35C13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336136" y="2069572"/>
              <a:ext cx="914400" cy="914400"/>
            </a:xfrm>
            <a:prstGeom prst="rect">
              <a:avLst/>
            </a:prstGeom>
          </p:spPr>
        </p:pic>
      </p:grpSp>
      <p:grpSp>
        <p:nvGrpSpPr>
          <p:cNvPr id="5" name="اليد">
            <a:extLst>
              <a:ext uri="{FF2B5EF4-FFF2-40B4-BE49-F238E27FC236}">
                <a16:creationId xmlns:a16="http://schemas.microsoft.com/office/drawing/2014/main" id="{10340B9D-1E74-D2D6-CFA5-0DE48B249466}"/>
              </a:ext>
            </a:extLst>
          </p:cNvPr>
          <p:cNvGrpSpPr/>
          <p:nvPr/>
        </p:nvGrpSpPr>
        <p:grpSpPr>
          <a:xfrm>
            <a:off x="3612245" y="1195158"/>
            <a:ext cx="4593770" cy="4562021"/>
            <a:chOff x="3512460" y="1190169"/>
            <a:chExt cx="4528455" cy="4562021"/>
          </a:xfrm>
        </p:grpSpPr>
        <p:sp>
          <p:nvSpPr>
            <p:cNvPr id="75" name="Partial Circle 74">
              <a:extLst>
                <a:ext uri="{FF2B5EF4-FFF2-40B4-BE49-F238E27FC236}">
                  <a16:creationId xmlns:a16="http://schemas.microsoft.com/office/drawing/2014/main" id="{A1B89750-3403-8E6B-9A89-8C4E5292D23C}"/>
                </a:ext>
              </a:extLst>
            </p:cNvPr>
            <p:cNvSpPr/>
            <p:nvPr/>
          </p:nvSpPr>
          <p:spPr>
            <a:xfrm rot="10800000">
              <a:off x="3512460" y="1190169"/>
              <a:ext cx="4528455" cy="4562021"/>
            </a:xfrm>
            <a:prstGeom prst="pie">
              <a:avLst>
                <a:gd name="adj1" fmla="val 10845920"/>
                <a:gd name="adj2" fmla="val 16199903"/>
              </a:avLst>
            </a:prstGeom>
            <a:solidFill>
              <a:srgbClr val="FFFF00">
                <a:alpha val="20000"/>
              </a:srgbClr>
            </a:solidFill>
            <a:ln w="31750">
              <a:solidFill>
                <a:srgbClr val="FFFF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pic>
          <p:nvPicPr>
            <p:cNvPr id="84" name="Graphic 83" descr="Handshake with solid fill">
              <a:extLst>
                <a:ext uri="{FF2B5EF4-FFF2-40B4-BE49-F238E27FC236}">
                  <a16:creationId xmlns:a16="http://schemas.microsoft.com/office/drawing/2014/main" id="{770F2732-72AC-96EE-FAC9-3FC21E35D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336136" y="3934601"/>
              <a:ext cx="914400" cy="914400"/>
            </a:xfrm>
            <a:prstGeom prst="rect">
              <a:avLst/>
            </a:prstGeom>
          </p:spPr>
        </p:pic>
      </p:grpSp>
      <p:grpSp>
        <p:nvGrpSpPr>
          <p:cNvPr id="2" name="التثاؤب">
            <a:extLst>
              <a:ext uri="{FF2B5EF4-FFF2-40B4-BE49-F238E27FC236}">
                <a16:creationId xmlns:a16="http://schemas.microsoft.com/office/drawing/2014/main" id="{383BE785-5C77-8A86-B3AE-68D87B1B8486}"/>
              </a:ext>
            </a:extLst>
          </p:cNvPr>
          <p:cNvGrpSpPr/>
          <p:nvPr/>
        </p:nvGrpSpPr>
        <p:grpSpPr>
          <a:xfrm>
            <a:off x="3358242" y="1075871"/>
            <a:ext cx="4673602" cy="4572000"/>
            <a:chOff x="3193142" y="1075871"/>
            <a:chExt cx="4673602" cy="4572000"/>
          </a:xfrm>
        </p:grpSpPr>
        <p:sp>
          <p:nvSpPr>
            <p:cNvPr id="71" name="Partial Circle 70">
              <a:extLst>
                <a:ext uri="{FF2B5EF4-FFF2-40B4-BE49-F238E27FC236}">
                  <a16:creationId xmlns:a16="http://schemas.microsoft.com/office/drawing/2014/main" id="{ACBAD86A-AED6-2D01-5A47-31DC27E98F19}"/>
                </a:ext>
              </a:extLst>
            </p:cNvPr>
            <p:cNvSpPr/>
            <p:nvPr/>
          </p:nvSpPr>
          <p:spPr>
            <a:xfrm>
              <a:off x="3193142" y="1075871"/>
              <a:ext cx="4673602" cy="4572000"/>
            </a:xfrm>
            <a:prstGeom prst="pie">
              <a:avLst>
                <a:gd name="adj1" fmla="val 10771111"/>
                <a:gd name="adj2" fmla="val 16199903"/>
              </a:avLst>
            </a:prstGeom>
            <a:solidFill>
              <a:srgbClr val="FF0000">
                <a:alpha val="20000"/>
              </a:srgbClr>
            </a:solidFill>
            <a:ln w="31750"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pic>
          <p:nvPicPr>
            <p:cNvPr id="88" name="Graphic 87" descr="Tongue with solid fill">
              <a:extLst>
                <a:ext uri="{FF2B5EF4-FFF2-40B4-BE49-F238E27FC236}">
                  <a16:creationId xmlns:a16="http://schemas.microsoft.com/office/drawing/2014/main" id="{F692A8C3-CE37-F3EB-C587-EF22B4BD1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38261" y="206957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476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9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07407E-6 L 0.32422 0.19468 " pathEditMode="relative" rAng="0" ptsTypes="AA">
                                      <p:cBhvr>
                                        <p:cTn id="36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11" y="972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" fill="hold"/>
                                        <p:tgtEl>
                                          <p:spTgt spid="2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7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07407E-6 L 0.32422 0.19468 " pathEditMode="relative" rAng="0" ptsTypes="AA">
                                      <p:cBhvr>
                                        <p:cTn id="4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11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7 L -0.35989 0.19838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95" y="9907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" presetClass="emph" presetSubtype="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" dur="200" fill="hold"/>
                                        <p:tgtEl>
                                          <p:spTgt spid="4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7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7 L -0.35989 0.19838 " pathEditMode="relative" rAng="0" ptsTypes="AA">
                                      <p:cBhvr>
                                        <p:cTn id="6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95" y="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4.07407E-6 L -0.35052 -0.26343 " pathEditMode="relative" rAng="0" ptsTypes="AA">
                                      <p:cBhvr>
                                        <p:cTn id="78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26" y="-13171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6" presetClass="emph" presetSubtype="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0" dur="2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7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4.07407E-6 L -0.35052 -0.26343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26" y="-13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59259E-6 L 0.32435 -0.26991 " pathEditMode="relative" rAng="0" ptsTypes="AA">
                                      <p:cBhvr>
                                        <p:cTn id="99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11" y="-13495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6" presetClass="emph" presetSubtype="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1" dur="2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7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59259E-6 L 0.32435 -0.26991 " pathEditMode="relative" rAng="0" ptsTypes="AA">
                                      <p:cBhvr>
                                        <p:cTn id="11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11" y="-1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535CD5-3DC9-877B-91B6-D433F5FAB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 descr="Eye with solid fill">
            <a:extLst>
              <a:ext uri="{FF2B5EF4-FFF2-40B4-BE49-F238E27FC236}">
                <a16:creationId xmlns:a16="http://schemas.microsoft.com/office/drawing/2014/main" id="{4A973853-C3F9-5FFD-6A86-862F3C033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7469" y="1768153"/>
            <a:ext cx="2159390" cy="215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17337E-C221-02EF-BC60-796684AB3F15}"/>
              </a:ext>
            </a:extLst>
          </p:cNvPr>
          <p:cNvSpPr txBox="1"/>
          <p:nvPr/>
        </p:nvSpPr>
        <p:spPr>
          <a:xfrm>
            <a:off x="6333281" y="1060267"/>
            <a:ext cx="410776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Y" sz="4000" dirty="0">
                <a:solidFill>
                  <a:srgbClr val="00B0F0"/>
                </a:solidFill>
              </a:rPr>
              <a:t>النعاس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5F1C4A-BF81-23F1-9AA2-9006D4747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504" y="1414210"/>
            <a:ext cx="5658090" cy="448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65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A72C99-5223-D987-E9A7-7EF40A9C6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"/>
            <a:ext cx="12192000" cy="6858000"/>
          </a:xfrm>
          <a:prstGeom prst="rect">
            <a:avLst/>
          </a:prstGeom>
        </p:spPr>
      </p:pic>
      <p:pic>
        <p:nvPicPr>
          <p:cNvPr id="5" name="Graphic 4" descr="Tongue with solid fill">
            <a:extLst>
              <a:ext uri="{FF2B5EF4-FFF2-40B4-BE49-F238E27FC236}">
                <a16:creationId xmlns:a16="http://schemas.microsoft.com/office/drawing/2014/main" id="{0491F04B-8F1C-C545-9ED5-C8ADBD6B1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8201" y="2791221"/>
            <a:ext cx="1602979" cy="160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5ABE6F-EFE0-68CB-7AA8-BFB344B9336F}"/>
              </a:ext>
            </a:extLst>
          </p:cNvPr>
          <p:cNvSpPr txBox="1"/>
          <p:nvPr/>
        </p:nvSpPr>
        <p:spPr>
          <a:xfrm>
            <a:off x="4420358" y="1147461"/>
            <a:ext cx="709748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Y" sz="4800" dirty="0">
                <a:solidFill>
                  <a:srgbClr val="00B0F0"/>
                </a:solidFill>
              </a:rPr>
              <a:t>التثاؤب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16C79-5372-D38B-B17F-4A2E8EF2E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56" y="1159072"/>
            <a:ext cx="61055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1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5F8626-FECA-EA22-4630-66604A800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 descr="Afraid face">
            <a:extLst>
              <a:ext uri="{FF2B5EF4-FFF2-40B4-BE49-F238E27FC236}">
                <a16:creationId xmlns:a16="http://schemas.microsoft.com/office/drawing/2014/main" id="{3801C849-1086-F799-768B-51642AEB2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149" y="2705645"/>
            <a:ext cx="2105551" cy="19250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239721-721A-02E0-65F1-FCDC3281F929}"/>
              </a:ext>
            </a:extLst>
          </p:cNvPr>
          <p:cNvSpPr txBox="1"/>
          <p:nvPr/>
        </p:nvSpPr>
        <p:spPr>
          <a:xfrm>
            <a:off x="3521122" y="1242435"/>
            <a:ext cx="5554639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Y" sz="4400" dirty="0">
                <a:solidFill>
                  <a:srgbClr val="00B0F0"/>
                </a:solidFill>
              </a:rPr>
              <a:t>التفاف الرأس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22E166-6217-51A7-6E03-005A49746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26" y="1368935"/>
            <a:ext cx="5636438" cy="446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03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0B9B2D-CE16-0E25-F258-F851BD80D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 descr="Handshake with solid fill">
            <a:extLst>
              <a:ext uri="{FF2B5EF4-FFF2-40B4-BE49-F238E27FC236}">
                <a16:creationId xmlns:a16="http://schemas.microsoft.com/office/drawing/2014/main" id="{F10DBD98-31D0-E70B-48EF-054F22525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7355" y="3004917"/>
            <a:ext cx="2497145" cy="2497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BF986-9536-C592-F73D-FDECEA08C186}"/>
              </a:ext>
            </a:extLst>
          </p:cNvPr>
          <p:cNvSpPr txBox="1"/>
          <p:nvPr/>
        </p:nvSpPr>
        <p:spPr>
          <a:xfrm>
            <a:off x="3612107" y="1179293"/>
            <a:ext cx="496778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Y" sz="3600" dirty="0">
                <a:solidFill>
                  <a:srgbClr val="00B0F0"/>
                </a:solidFill>
              </a:rPr>
              <a:t>استخدام اليد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5E6A23-0C06-C8A1-7D86-BB9C236038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54" y="1502458"/>
            <a:ext cx="5789448" cy="466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7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6710" y="323999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4625"/>
              </a:lnSpc>
            </a:pPr>
            <a:r>
              <a:rPr lang="en-US" sz="370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مقارنة مع أنظمة أخرى</a:t>
            </a:r>
            <a:endParaRPr lang="en-US" sz="3708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707A9FD-217C-DDBD-6D74-628B55F4B268}"/>
              </a:ext>
            </a:extLst>
          </p:cNvPr>
          <p:cNvSpPr/>
          <p:nvPr/>
        </p:nvSpPr>
        <p:spPr>
          <a:xfrm>
            <a:off x="10388600" y="6337300"/>
            <a:ext cx="1803400" cy="5207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Y"/>
          </a:p>
        </p:txBody>
      </p:sp>
      <p:graphicFrame>
        <p:nvGraphicFramePr>
          <p:cNvPr id="42" name="Table 42">
            <a:extLst>
              <a:ext uri="{FF2B5EF4-FFF2-40B4-BE49-F238E27FC236}">
                <a16:creationId xmlns:a16="http://schemas.microsoft.com/office/drawing/2014/main" id="{7FF65E7C-5B13-611F-3429-3C6AE36A6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124590"/>
              </p:ext>
            </p:extLst>
          </p:nvPr>
        </p:nvGraphicFramePr>
        <p:xfrm>
          <a:off x="956603" y="1338775"/>
          <a:ext cx="9779000" cy="462966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276079">
                  <a:extLst>
                    <a:ext uri="{9D8B030D-6E8A-4147-A177-3AD203B41FA5}">
                      <a16:colId xmlns:a16="http://schemas.microsoft.com/office/drawing/2014/main" val="3177317328"/>
                    </a:ext>
                  </a:extLst>
                </a:gridCol>
                <a:gridCol w="3276079">
                  <a:extLst>
                    <a:ext uri="{9D8B030D-6E8A-4147-A177-3AD203B41FA5}">
                      <a16:colId xmlns:a16="http://schemas.microsoft.com/office/drawing/2014/main" val="1304442643"/>
                    </a:ext>
                  </a:extLst>
                </a:gridCol>
                <a:gridCol w="3226842">
                  <a:extLst>
                    <a:ext uri="{9D8B030D-6E8A-4147-A177-3AD203B41FA5}">
                      <a16:colId xmlns:a16="http://schemas.microsoft.com/office/drawing/2014/main" val="1261899418"/>
                    </a:ext>
                  </a:extLst>
                </a:gridCol>
              </a:tblGrid>
              <a:tr h="331981">
                <a:tc>
                  <a:txBody>
                    <a:bodyPr/>
                    <a:lstStyle/>
                    <a:p>
                      <a:pPr lvl="1" algn="ctr" rtl="1"/>
                      <a:endParaRPr lang="ar-S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Y" sz="2000" dirty="0"/>
                        <a:t>النظام الحالي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Y" sz="2000" dirty="0"/>
                        <a:t>أنظمة أخرى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90121"/>
                  </a:ext>
                </a:extLst>
              </a:tr>
              <a:tr h="331981">
                <a:tc>
                  <a:txBody>
                    <a:bodyPr/>
                    <a:lstStyle/>
                    <a:p>
                      <a:pPr marL="457200" marR="0" lvl="1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التكلفة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 algn="ctr" rtl="1"/>
                      <a:r>
                        <a:rPr lang="ar-SY" sz="2000" dirty="0"/>
                        <a:t>منخفضة</a:t>
                      </a:r>
                      <a:r>
                        <a:rPr lang="en-US" sz="2000" dirty="0"/>
                        <a:t> </a:t>
                      </a:r>
                      <a:r>
                        <a:rPr lang="ar-SY" sz="2000" dirty="0"/>
                        <a:t> جداً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 algn="ctr" rtl="1"/>
                      <a:r>
                        <a:rPr lang="ar-SY" sz="2000" dirty="0"/>
                        <a:t>عالية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348115"/>
                  </a:ext>
                </a:extLst>
              </a:tr>
              <a:tr h="331981">
                <a:tc>
                  <a:txBody>
                    <a:bodyPr/>
                    <a:lstStyle/>
                    <a:p>
                      <a:pPr lvl="1" algn="ctr" rtl="1"/>
                      <a:r>
                        <a:rPr lang="ar-SA" sz="20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نوع التشتت المكتشف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ar-SY" sz="2000" dirty="0"/>
                        <a:t>يكتشف عدة حالات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ar-SY" sz="2000" dirty="0"/>
                        <a:t>يكتشف حالة أو حالتين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48220"/>
                  </a:ext>
                </a:extLst>
              </a:tr>
              <a:tr h="331981">
                <a:tc>
                  <a:txBody>
                    <a:bodyPr/>
                    <a:lstStyle/>
                    <a:p>
                      <a:pPr lvl="1" algn="ctr" rtl="1"/>
                      <a:r>
                        <a:rPr lang="ar-SA" sz="20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الدقة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~%95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~90%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62429268"/>
                  </a:ext>
                </a:extLst>
              </a:tr>
              <a:tr h="331981">
                <a:tc>
                  <a:txBody>
                    <a:bodyPr/>
                    <a:lstStyle/>
                    <a:p>
                      <a:pPr lvl="1" algn="ctr" rtl="1"/>
                      <a:r>
                        <a:rPr lang="ar-SA" sz="20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الاستجابة في الوقت الفعلي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ar-S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ar-S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011638"/>
                  </a:ext>
                </a:extLst>
              </a:tr>
              <a:tr h="331981">
                <a:tc>
                  <a:txBody>
                    <a:bodyPr/>
                    <a:lstStyle/>
                    <a:p>
                      <a:pPr lvl="1" algn="ctr" rtl="1"/>
                      <a:r>
                        <a:rPr lang="ar-SA" sz="20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الاعتماد على أجهزة خاصة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ar-SY" sz="2000" dirty="0"/>
                        <a:t>لا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ar-SY" sz="2000" dirty="0"/>
                        <a:t>نعم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022772"/>
                  </a:ext>
                </a:extLst>
              </a:tr>
              <a:tr h="331981">
                <a:tc>
                  <a:txBody>
                    <a:bodyPr/>
                    <a:lstStyle/>
                    <a:p>
                      <a:pPr lvl="1" algn="ctr" rtl="1"/>
                      <a:r>
                        <a:rPr lang="ar-SA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الإنذارات</a:t>
                      </a:r>
                      <a:endParaRPr lang="ar-S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ar-SY" sz="2000" dirty="0"/>
                        <a:t>صوتية + اشعارات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ctr" rtl="1"/>
                      <a:r>
                        <a:rPr lang="ar-SY" sz="2000" dirty="0"/>
                        <a:t>فقط صوتية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56248"/>
                  </a:ext>
                </a:extLst>
              </a:tr>
              <a:tr h="331981">
                <a:tc>
                  <a:txBody>
                    <a:bodyPr/>
                    <a:lstStyle/>
                    <a:p>
                      <a:pPr lvl="1" algn="ctr" rtl="1"/>
                      <a:r>
                        <a:rPr lang="ar-SA" sz="20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واجهة المستخدم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1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واجهة رسومية باستخدام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tkinter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SY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SA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لعرض البيانات وإنشاء تقارير</a:t>
                      </a:r>
                      <a:endParaRPr lang="ar-SY" sz="2000" dirty="0">
                        <a:effectLst/>
                      </a:endParaRPr>
                    </a:p>
                    <a:p>
                      <a:pPr lvl="1" algn="ctr" rtl="1"/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1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لا توجد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lvl="1" algn="ctr" rtl="1"/>
                      <a:endParaRPr lang="ar-S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034892"/>
                  </a:ext>
                </a:extLst>
              </a:tr>
              <a:tr h="331981">
                <a:tc>
                  <a:txBody>
                    <a:bodyPr/>
                    <a:lstStyle/>
                    <a:p>
                      <a:pPr lvl="1" algn="ctr" rtl="1"/>
                      <a:r>
                        <a:rPr lang="ar-SA" sz="20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التوثيق والتخزين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1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Y" sz="2000" dirty="0"/>
                        <a:t>تخزن في ال </a:t>
                      </a:r>
                      <a:r>
                        <a:rPr lang="en-US" sz="2000" dirty="0"/>
                        <a:t>data base</a:t>
                      </a:r>
                      <a:endParaRPr lang="ar-SY" sz="2000" dirty="0"/>
                    </a:p>
                    <a:p>
                      <a:pPr lvl="1" algn="ctr" rtl="1"/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1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لا يوجد</a:t>
                      </a:r>
                      <a:endParaRPr lang="ar-SY" sz="2000" dirty="0">
                        <a:effectLst/>
                      </a:endParaRPr>
                    </a:p>
                    <a:p>
                      <a:pPr lvl="1" algn="ctr" rtl="1"/>
                      <a:endParaRPr lang="ar-S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00953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6C7CA2-E0EA-AAA2-AA9C-05C2139FD2D3}"/>
              </a:ext>
            </a:extLst>
          </p:cNvPr>
          <p:cNvSpPr/>
          <p:nvPr/>
        </p:nvSpPr>
        <p:spPr>
          <a:xfrm>
            <a:off x="10740572" y="6434667"/>
            <a:ext cx="1330476" cy="379942"/>
          </a:xfrm>
          <a:prstGeom prst="roundRect">
            <a:avLst/>
          </a:prstGeom>
          <a:solidFill>
            <a:srgbClr val="DFEEF1"/>
          </a:solidFill>
          <a:ln>
            <a:solidFill>
              <a:srgbClr val="DFEEF1"/>
            </a:solidFill>
          </a:ln>
        </p:spPr>
        <p:style>
          <a:lnRef idx="1">
            <a:schemeClr val="accent5"/>
          </a:lnRef>
          <a:fillRef idx="1002">
            <a:schemeClr val="lt2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Y" sz="16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2DBBFBE-569C-BD6A-5936-A27965F22AB5}"/>
              </a:ext>
            </a:extLst>
          </p:cNvPr>
          <p:cNvSpPr/>
          <p:nvPr/>
        </p:nvSpPr>
        <p:spPr>
          <a:xfrm>
            <a:off x="4384248" y="457145"/>
            <a:ext cx="75391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المتطلبات الوظيفية وغير الوظيفية</a:t>
            </a:r>
            <a:endParaRPr lang="en-US" sz="445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6DCA089F-FE1A-845D-C638-A5C53E2BA065}"/>
              </a:ext>
            </a:extLst>
          </p:cNvPr>
          <p:cNvSpPr/>
          <p:nvPr/>
        </p:nvSpPr>
        <p:spPr>
          <a:xfrm>
            <a:off x="-1120885" y="33505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إرسال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ar-SY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اشعار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عبر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البريد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الإلكتروني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Telegram ,</a:t>
            </a:r>
            <a:endParaRPr lang="en-US" sz="20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0B6C202-0801-BF75-D3B5-7AB689369B76}"/>
              </a:ext>
            </a:extLst>
          </p:cNvPr>
          <p:cNvSpPr/>
          <p:nvPr/>
        </p:nvSpPr>
        <p:spPr>
          <a:xfrm>
            <a:off x="-1120885" y="39224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حفظ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الحالة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في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قاعدة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بيانات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SQLite</a:t>
            </a:r>
            <a:endParaRPr lang="en-US" sz="20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F6D4243-4366-A84B-28DE-E1244FD3DC6F}"/>
              </a:ext>
            </a:extLst>
          </p:cNvPr>
          <p:cNvSpPr/>
          <p:nvPr/>
        </p:nvSpPr>
        <p:spPr>
          <a:xfrm>
            <a:off x="2085706" y="1864166"/>
            <a:ext cx="303811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✅</a:t>
            </a: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المتطلبات غير الوظيفية</a:t>
            </a:r>
            <a:endParaRPr lang="en-US" sz="28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62B2199E-2F81-4160-0EF1-7C573755C6FA}"/>
              </a:ext>
            </a:extLst>
          </p:cNvPr>
          <p:cNvSpPr/>
          <p:nvPr/>
        </p:nvSpPr>
        <p:spPr>
          <a:xfrm>
            <a:off x="1770743" y="2452930"/>
            <a:ext cx="33530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يعمل في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زمن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حقيقي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(Real-time)</a:t>
            </a:r>
            <a:endParaRPr lang="en-US" sz="20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9919FC3-F450-68CA-2A6B-5EB929C6A8FF}"/>
              </a:ext>
            </a:extLst>
          </p:cNvPr>
          <p:cNvSpPr/>
          <p:nvPr/>
        </p:nvSpPr>
        <p:spPr>
          <a:xfrm>
            <a:off x="1770743" y="2895128"/>
            <a:ext cx="33530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سهولة الاستخدام بواجهة بسيطة وواضحة</a:t>
            </a:r>
            <a:endParaRPr lang="en-US" sz="20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020DBDBF-F9B0-CDC9-CE45-1AB75E2705CF}"/>
              </a:ext>
            </a:extLst>
          </p:cNvPr>
          <p:cNvSpPr/>
          <p:nvPr/>
        </p:nvSpPr>
        <p:spPr>
          <a:xfrm>
            <a:off x="1959429" y="3337326"/>
            <a:ext cx="31643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850"/>
              </a:lnSpc>
              <a:buSzPct val="100000"/>
            </a:pPr>
            <a:endParaRPr lang="en-US" sz="20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35AC9481-716A-DFFF-C005-860B990797EA}"/>
              </a:ext>
            </a:extLst>
          </p:cNvPr>
          <p:cNvSpPr/>
          <p:nvPr/>
        </p:nvSpPr>
        <p:spPr>
          <a:xfrm>
            <a:off x="2085706" y="3779524"/>
            <a:ext cx="30381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5CD6F16-6A7B-C3A4-E838-477B0799B436}"/>
              </a:ext>
            </a:extLst>
          </p:cNvPr>
          <p:cNvSpPr/>
          <p:nvPr/>
        </p:nvSpPr>
        <p:spPr>
          <a:xfrm>
            <a:off x="8324780" y="198200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✅</a:t>
            </a: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المتطلبات الوظيفية</a:t>
            </a:r>
            <a:endParaRPr lang="en-US" sz="28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F8AF341-1CE1-1CBF-CDE0-EDE42E893D91}"/>
              </a:ext>
            </a:extLst>
          </p:cNvPr>
          <p:cNvSpPr/>
          <p:nvPr/>
        </p:nvSpPr>
        <p:spPr>
          <a:xfrm>
            <a:off x="4915307" y="25707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التعرف على الوجه وتتبع الملامح</a:t>
            </a:r>
            <a:endParaRPr lang="en-US" sz="2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E69C8CB-8EA3-5633-4CB6-496546C56D57}"/>
              </a:ext>
            </a:extLst>
          </p:cNvPr>
          <p:cNvSpPr/>
          <p:nvPr/>
        </p:nvSpPr>
        <p:spPr>
          <a:xfrm>
            <a:off x="4915307" y="30129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كشف حالات النعاس والتشتت</a:t>
            </a:r>
            <a:endParaRPr lang="en-US" sz="20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34449A8-2DF0-8FC9-3DAE-88F247B33F72}"/>
              </a:ext>
            </a:extLst>
          </p:cNvPr>
          <p:cNvSpPr/>
          <p:nvPr/>
        </p:nvSpPr>
        <p:spPr>
          <a:xfrm>
            <a:off x="4915307" y="34551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كشف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استخدام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ar-SY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اليد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5081A2-E28E-FBE2-406D-5AD281497020}"/>
              </a:ext>
            </a:extLst>
          </p:cNvPr>
          <p:cNvSpPr/>
          <p:nvPr/>
        </p:nvSpPr>
        <p:spPr>
          <a:xfrm>
            <a:off x="4915307" y="38973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إطلاق إنذار صوتي فوري</a:t>
            </a:r>
            <a:endParaRPr 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33017" y="1084461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4625"/>
              </a:lnSpc>
            </a:pPr>
            <a:r>
              <a:rPr lang="en-US" sz="370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الخاتمة والمستقبل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1958579"/>
            <a:ext cx="6297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يقدم هذا النظام حلاً فعالاً لمشكلة حوادث الطرق المرتبطة بالسائق، مع إمكانات تطوير كبيرة.</a:t>
            </a:r>
            <a:endParaRPr lang="en-US" sz="1458" dirty="0"/>
          </a:p>
        </p:txBody>
      </p:sp>
      <p:sp>
        <p:nvSpPr>
          <p:cNvPr id="5" name="Shape 2"/>
          <p:cNvSpPr/>
          <p:nvPr/>
        </p:nvSpPr>
        <p:spPr>
          <a:xfrm>
            <a:off x="3904556" y="2776042"/>
            <a:ext cx="3053953" cy="1706662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00451" y="297140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نظام مفيد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4099918" y="3380085"/>
            <a:ext cx="266323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يساهم في تعزيز السلامة المرورية وتقليل المخاطر على الطريق.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661492" y="2776042"/>
            <a:ext cx="3054053" cy="1706662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57486" y="297140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إمكانية التوسع</a:t>
            </a:r>
            <a:endParaRPr lang="en-US" sz="1833" dirty="0"/>
          </a:p>
        </p:txBody>
      </p:sp>
      <p:sp>
        <p:nvSpPr>
          <p:cNvPr id="10" name="Text 7"/>
          <p:cNvSpPr/>
          <p:nvPr/>
        </p:nvSpPr>
        <p:spPr>
          <a:xfrm>
            <a:off x="856854" y="3380085"/>
            <a:ext cx="266332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يمكن إضافة ميزات جديدة مثل التعرف </a:t>
            </a:r>
            <a:r>
              <a:rPr lang="en-US" sz="1458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على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ar-SY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ال</a:t>
            </a:r>
            <a:r>
              <a:rPr lang="en-US" sz="1458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سائق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، وتحليل سلوك القيادة بشكل أعمق.</a:t>
            </a:r>
            <a:endParaRPr lang="en-US" sz="1458" dirty="0"/>
          </a:p>
        </p:txBody>
      </p:sp>
      <p:sp>
        <p:nvSpPr>
          <p:cNvPr id="11" name="Shape 8"/>
          <p:cNvSpPr/>
          <p:nvPr/>
        </p:nvSpPr>
        <p:spPr>
          <a:xfrm>
            <a:off x="661492" y="4671716"/>
            <a:ext cx="6297018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00451" y="486707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التحسين المستمر</a:t>
            </a:r>
            <a:endParaRPr lang="en-US" sz="1833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096080-AE7F-61D8-C6D9-D1F087FD1C6B}"/>
              </a:ext>
            </a:extLst>
          </p:cNvPr>
          <p:cNvSpPr/>
          <p:nvPr/>
        </p:nvSpPr>
        <p:spPr>
          <a:xfrm>
            <a:off x="10494498" y="6386732"/>
            <a:ext cx="1697502" cy="47126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Y"/>
          </a:p>
        </p:txBody>
      </p:sp>
      <p:sp>
        <p:nvSpPr>
          <p:cNvPr id="13" name="Text 10"/>
          <p:cNvSpPr/>
          <p:nvPr/>
        </p:nvSpPr>
        <p:spPr>
          <a:xfrm>
            <a:off x="856854" y="5275759"/>
            <a:ext cx="59062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بفضل طبيعته مفتوحة المصدر، يمكن للمجتمع المساهمة في تطويره.</a:t>
            </a:r>
            <a:endParaRPr lang="en-US" sz="1458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981" y="0"/>
            <a:ext cx="457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A2ECD5-93E2-7F2A-C2E7-F53EE0117340}"/>
              </a:ext>
            </a:extLst>
          </p:cNvPr>
          <p:cNvSpPr/>
          <p:nvPr/>
        </p:nvSpPr>
        <p:spPr>
          <a:xfrm>
            <a:off x="10740572" y="6434667"/>
            <a:ext cx="1330476" cy="379942"/>
          </a:xfrm>
          <a:prstGeom prst="roundRect">
            <a:avLst/>
          </a:prstGeom>
          <a:solidFill>
            <a:srgbClr val="DFEEF1"/>
          </a:solidFill>
          <a:ln>
            <a:solidFill>
              <a:srgbClr val="DFEEF1"/>
            </a:solidFill>
          </a:ln>
        </p:spPr>
        <p:style>
          <a:lnRef idx="1">
            <a:schemeClr val="accent5"/>
          </a:lnRef>
          <a:fillRef idx="1002">
            <a:schemeClr val="lt2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Y" sz="6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58E6DA-D508-E63D-A32E-B010457C6F2A}"/>
              </a:ext>
            </a:extLst>
          </p:cNvPr>
          <p:cNvSpPr txBox="1"/>
          <p:nvPr/>
        </p:nvSpPr>
        <p:spPr>
          <a:xfrm>
            <a:off x="927768" y="1912352"/>
            <a:ext cx="10045032" cy="264687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600" i="1" dirty="0">
                <a:solidFill>
                  <a:srgbClr val="00B0F0"/>
                </a:solidFill>
                <a:latin typeface="Chiller" panose="04020404031007020602" pitchFamily="82" charset="0"/>
              </a:rPr>
              <a:t>Thank you All</a:t>
            </a:r>
            <a:endParaRPr lang="ar-SY" sz="16600" i="1" dirty="0">
              <a:solidFill>
                <a:srgbClr val="00B0F0"/>
              </a:solidFill>
              <a:latin typeface="Chiller" panose="04020404031007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79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1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458</Words>
  <Application>Microsoft Office PowerPoint</Application>
  <PresentationFormat>Widescreen</PresentationFormat>
  <Paragraphs>117</Paragraphs>
  <Slides>17</Slides>
  <Notes>7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Chiller</vt:lpstr>
      <vt:lpstr>Inconsolata Bold</vt:lpstr>
      <vt:lpstr>Open Sans</vt:lpstr>
      <vt:lpstr>Unbounded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nidal saleh</dc:creator>
  <cp:lastModifiedBy>nidal saleh</cp:lastModifiedBy>
  <cp:revision>13</cp:revision>
  <dcterms:created xsi:type="dcterms:W3CDTF">2025-06-27T06:34:12Z</dcterms:created>
  <dcterms:modified xsi:type="dcterms:W3CDTF">2025-06-29T08:19:46Z</dcterms:modified>
</cp:coreProperties>
</file>